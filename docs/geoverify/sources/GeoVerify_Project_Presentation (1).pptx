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188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7" y="177206"/>
            <a:ext cx="1862826" cy="188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197894"/>
            <a:ext cx="2232660" cy="707886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072A52"/>
                </a:solidFill>
                <a:latin typeface="+mj-lt"/>
              </a:rPr>
              <a:t>RAMDEOBABA</a:t>
            </a:r>
            <a:br>
              <a:rPr sz="2000" dirty="0">
                <a:latin typeface="+mj-lt"/>
              </a:rPr>
            </a:br>
            <a:r>
              <a:rPr sz="2000" dirty="0">
                <a:solidFill/>
                <a:latin typeface="+mj-lt"/>
              </a:rPr>
              <a:t>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21354"/>
            <a:ext cx="1965960" cy="150810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sz="2400" b="1" dirty="0">
                <a:solidFill>
                  <a:srgbClr val="072A52"/>
                </a:solidFill>
                <a:latin typeface="+mj-lt"/>
              </a:rPr>
              <a:t>IDEA LAB</a:t>
            </a:r>
          </a:p>
          <a:p>
            <a:pPr algn="ctr"/>
            <a:r>
              <a:rPr lang="en-IN" sz="2400" b="1" dirty="0">
                <a:solidFill>
                  <a:srgbClr val="072A52"/>
                </a:solidFill>
                <a:latin typeface="+mj-lt"/>
              </a:rPr>
              <a:t/>
            </a:r>
            <a:br>
              <a:rPr sz="2000" dirty="0">
                <a:latin typeface="+mj-lt"/>
              </a:rPr>
            </a:br>
            <a:endParaRPr sz="2000" dirty="0">
              <a:solidFill/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6120" y="868680"/>
            <a:ext cx="7955279" cy="58477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444752"/>
            <a:ext cx="7863840" cy="54864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EF6019"/>
                </a:solidFill>
                <a:latin typeface="+mj-lt"/>
              </a:rPr>
              <a:t>GeoVerify: Satellite Verification of Public Infrastructure Claims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2103120"/>
            <a:ext cx="7863840" cy="3200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60825"/>
            <a:ext cx="7955279" cy="273320"/>
          </a:xfrm>
          <a:prstGeom prst="rect">
            <a:avLst/>
          </a:prstGeom>
          <a:solidFill>
            <a:srgbClr val="07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79" y="6562878"/>
            <a:ext cx="4236415" cy="273320"/>
          </a:xfrm>
          <a:prstGeom prst="rect">
            <a:avLst/>
          </a:prstGeom>
          <a:solidFill>
            <a:srgbClr val="EF6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9B445B-D27F-87EF-AD8D-FF266BEF24E0}"/>
              </a:ext>
            </a:extLst>
          </p:cNvPr>
          <p:cNvSpPr txBox="1"/>
          <p:nvPr/>
        </p:nvSpPr>
        <p:spPr>
          <a:xfrm>
            <a:off x="397764" y="4675960"/>
            <a:ext cx="1965960" cy="830997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sz="2400" b="1" dirty="0">
                <a:solidFill>
                  <a:srgbClr val="072A52"/>
                </a:solidFill>
                <a:latin typeface="+mj-lt"/>
              </a:rPr>
              <a:t>SEMESTER V</a:t>
            </a:r>
            <a:endParaRPr sz="2400" dirty="0">
              <a:solidFill/>
              <a:latin typeface="+mj-lt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2B9AAD-1625-D059-FD92-B382EE9652A5}"/>
              </a:ext>
            </a:extLst>
          </p:cNvPr>
          <p:cNvCxnSpPr>
            <a:cxnSpLocks/>
          </p:cNvCxnSpPr>
          <p:nvPr/>
        </p:nvCxnSpPr>
        <p:spPr>
          <a:xfrm>
            <a:off x="2657474" y="64008"/>
            <a:ext cx="0" cy="6456664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73552" y="233172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B84"/>
                </a:solidFill>
              </a:rPr>
              <a:t>Did the road actually get built? Ask the satellite, not the paperwork.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3154680"/>
            <a:ext cx="7863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F6019"/>
                </a:solidFill>
              </a:rPr>
              <a:t>TEAM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F50"/>
                </a:solidFill>
              </a:rPr>
              <a:t>Harshit Widhwani (B-B4-49, Leader)      Soumya Jaiswal (B-B1-10)      Krish Potanwar (B-B2-21)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333F50"/>
                </a:solidFill>
              </a:rPr>
              <a:t>Mohisha Punwatkar (B-B1-12)      Ruchita Bhende (B-B3-46)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F6019"/>
                </a:solidFill>
              </a:rPr>
              <a:t>GUIDE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333F50"/>
                </a:solidFill>
              </a:rPr>
              <a:t>Prof. Ashwini Lokhande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F6019"/>
                </a:solidFill>
              </a:rPr>
              <a:t>DEPARTMENT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F50"/>
                </a:solidFill>
              </a:rPr>
              <a:t>Artificial Intelligence and Cyber Security  · 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18 September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</a:t>
            </a:r>
            <a:r>
              <a:rPr sz="1400" dirty="0">
                <a:solidFill>
                  <a:schemeClr val="bg1"/>
                </a:solidFill>
              </a:rPr>
              <a:t> 2 of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9692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72A52"/>
                </a:solidFill>
              </a:rPr>
              <a:t>A road is marked complete, ₹20 crore is released, and nobody independently checks the ground.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15727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HOW A PROJECT IS SIGNED OFF TODAY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1847088"/>
            <a:ext cx="2331720" cy="786384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CONTRACTOR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</a:rPr>
              <a:t>does the work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095244" y="2139696"/>
            <a:ext cx="155448" cy="201168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300984" y="1847088"/>
            <a:ext cx="2331720" cy="786384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SELF-DECLARED FILE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</a:rPr>
              <a:t>measurement book, photos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682996" y="2139696"/>
            <a:ext cx="155448" cy="201168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888736" y="1847088"/>
            <a:ext cx="2331720" cy="786384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DEPARTMENT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</a:rPr>
              <a:t>reviews the file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270748" y="2139696"/>
            <a:ext cx="155448" cy="201168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8476488" y="1847088"/>
            <a:ext cx="2331720" cy="786384"/>
          </a:xfrm>
          <a:prstGeom prst="roundRect">
            <a:avLst>
              <a:gd name="adj" fmla="val 12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PAYMENT RELEASED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</a:rPr>
              <a:t>next instalment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2798064"/>
            <a:ext cx="10058400" cy="512064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072A52"/>
                </a:solidFill>
              </a:rPr>
              <a:t>Every piece of evidence in that chain is produced by the party being paid.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3529584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WHY THAT FAILS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" y="3822191"/>
            <a:ext cx="2432304" cy="120700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13232" y="3822191"/>
            <a:ext cx="45720" cy="1207008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32688" y="4023360"/>
            <a:ext cx="20299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72A52"/>
                </a:solidFill>
              </a:rPr>
              <a:t>Sample-based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F50"/>
                </a:solidFill>
              </a:rPr>
              <a:t>Third-party inspection reaches only a fraction of sanctioned works.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10128" y="3822191"/>
            <a:ext cx="2432304" cy="120700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3310128" y="3822191"/>
            <a:ext cx="45720" cy="1207008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529584" y="4023360"/>
            <a:ext cx="20299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72A52"/>
                </a:solidFill>
              </a:rPr>
              <a:t>Too late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F50"/>
                </a:solidFill>
              </a:rPr>
              <a:t>Verification lands months after the instalment has been released.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07024" y="3822191"/>
            <a:ext cx="2432304" cy="120700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907024" y="3822191"/>
            <a:ext cx="45720" cy="1207008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126480" y="4023360"/>
            <a:ext cx="20299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72A52"/>
                </a:solidFill>
              </a:rPr>
              <a:t>Self-reported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F50"/>
                </a:solidFill>
              </a:rPr>
              <a:t>Photos and measurement books carry no independent baseline.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3822191"/>
            <a:ext cx="2432304" cy="120700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8503920" y="3822191"/>
            <a:ext cx="45720" cy="1207008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723376" y="4023360"/>
            <a:ext cx="20299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72A52"/>
                </a:solidFill>
              </a:rPr>
              <a:t>Not repeatable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F50"/>
                </a:solidFill>
              </a:rPr>
              <a:t>A site visit is a single snapshot; nothing tracks the site over time.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52303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WHO CARRIES THE COST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8" y="5586983"/>
            <a:ext cx="82296" cy="82296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87552" y="550468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F50"/>
                </a:solidFill>
              </a:rPr>
              <a:t>Auditors and funding departments, with no scalable way to check before paying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" y="5861303"/>
            <a:ext cx="82296" cy="82296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87552" y="5779007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F50"/>
                </a:solidFill>
              </a:rPr>
              <a:t>Citizens, who fund works that may never have existed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" y="6135623"/>
            <a:ext cx="82296" cy="82296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7552" y="6053327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F50"/>
                </a:solidFill>
              </a:rPr>
              <a:t>Honest contractors, competing against projects that exist only on paper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EXISTING SOLUTION / LITERATURE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1042415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EXISTING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042415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042415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WHAT GEOVERIFY ADDS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298448"/>
            <a:ext cx="10076688" cy="13716"/>
          </a:xfrm>
          <a:prstGeom prst="rect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40080" y="1389888"/>
            <a:ext cx="10222992" cy="65836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1536192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2A52"/>
                </a:solidFill>
              </a:rPr>
              <a:t>Manual third-party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53619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Sample-based, costly, arrives after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536192"/>
            <a:ext cx="3200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2A52"/>
                </a:solidFill>
              </a:rPr>
              <a:t>Screens every record, before the next instalment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249424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2A52"/>
                </a:solidFill>
              </a:rPr>
              <a:t>Geotagged photo and MIS portals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49424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Self-reported by the audited agency; no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249424"/>
            <a:ext cx="3200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2A52"/>
                </a:solidFill>
              </a:rPr>
              <a:t>Evidence held by ESA and USGS, not the agency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16352"/>
            <a:ext cx="10222992" cy="84124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2962656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2A52"/>
                </a:solidFill>
              </a:rPr>
              <a:t>Daudt 2018, Chen &amp; Shi 2020, Chen 2022  ·  Siamese and transformer change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962656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Answers “did the image change”; never tied to a claim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62656"/>
            <a:ext cx="3200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2A52"/>
                </a:solidFill>
              </a:rPr>
              <a:t>Same models, reconciled against declared dates and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858768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2A52"/>
                </a:solidFill>
              </a:rPr>
              <a:t>Bastani 2018 — RoadTracer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858768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Road graph from a single date; no growth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858768"/>
            <a:ext cx="3200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2A52"/>
                </a:solidFill>
              </a:rPr>
              <a:t>Road length and width measured per epoch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25696"/>
            <a:ext cx="10222992" cy="65836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4572000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2A52"/>
                </a:solidFill>
              </a:rPr>
              <a:t>Gorelick 2017 — Google Earth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572000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Serves imagery at scale; carries no verdict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572000"/>
            <a:ext cx="3200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2A52"/>
                </a:solidFill>
              </a:rPr>
              <a:t>Adds reconciliation, scoring and an audit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285232"/>
            <a:ext cx="10058400" cy="1024128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87552" y="544982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EF6019"/>
                </a:solidFill>
              </a:rPr>
              <a:t>RESEARCH GAP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</a:rPr>
              <a:t>Change detection and imagery platforms are studied separately. No published system ingests a declared project record, aligns imagery to its milestone timeline, measures progress in physical units and returns a scored, evidence-linked verdict.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9509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72A52"/>
                </a:solidFill>
              </a:rPr>
              <a:t>Feed it the claim. It fetches the evidence, measures the ground, and reports the gap.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444752"/>
            <a:ext cx="2395728" cy="1627632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14400" y="1609344"/>
            <a:ext cx="420624" cy="420624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57984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72A52"/>
                </a:solidFill>
              </a:rPr>
              <a:t>THE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32304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</a:rPr>
              <a:t>coordinates or route, sanctioned cost, scope, declared dates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36392" y="2084831"/>
            <a:ext cx="146304" cy="201168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310128" y="1444752"/>
            <a:ext cx="2395728" cy="1627632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511296" y="1609344"/>
            <a:ext cx="420624" cy="420624"/>
          </a:xfrm>
          <a:prstGeom prst="roundRect">
            <a:avLst>
              <a:gd name="adj" fmla="val 35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157984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72A52"/>
                </a:solidFill>
              </a:rPr>
              <a:t>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2432304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</a:rPr>
              <a:t>Before / During / After stacks pulled through Earth Engine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33288" y="2084831"/>
            <a:ext cx="146304" cy="201168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907024" y="1444752"/>
            <a:ext cx="2395728" cy="1627632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108192" y="1609344"/>
            <a:ext cx="420624" cy="420624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157984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72A52"/>
                </a:solidFill>
              </a:rPr>
              <a:t>THE 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432304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</a:rPr>
              <a:t>road length and width, or built-up area, per epoch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330184" y="2084831"/>
            <a:ext cx="146304" cy="201168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503920" y="1444752"/>
            <a:ext cx="2395728" cy="1627632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705088" y="1609344"/>
            <a:ext cx="420624" cy="420624"/>
          </a:xfrm>
          <a:prstGeom prst="roundRect">
            <a:avLst>
              <a:gd name="adj" fmla="val 35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2157984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72A52"/>
                </a:solidFill>
              </a:rPr>
              <a:t>THE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432304"/>
            <a:ext cx="1993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</a:rPr>
              <a:t>observed curve vs declared curve, scored with 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2918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IT RETURNS ONE OF FOUR STATES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566160"/>
            <a:ext cx="2395728" cy="658368"/>
          </a:xfrm>
          <a:prstGeom prst="roundRect">
            <a:avLst>
              <a:gd name="adj" fmla="val 10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</a:rPr>
              <a:t>VERIFIED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</a:rPr>
              <a:t>curve meets the claim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0128" y="3566160"/>
            <a:ext cx="2395728" cy="658368"/>
          </a:xfrm>
          <a:prstGeom prst="roundRect">
            <a:avLst>
              <a:gd name="adj" fmla="val 10000"/>
            </a:avLst>
          </a:prstGeom>
          <a:solidFill>
            <a:srgbClr val="1C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</a:rPr>
              <a:t>PARTIALLY VERIFIED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</a:rPr>
              <a:t>built below scope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07024" y="3566160"/>
            <a:ext cx="2395728" cy="658368"/>
          </a:xfrm>
          <a:prstGeom prst="roundRect">
            <a:avLst>
              <a:gd name="adj" fmla="val 10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</a:rPr>
              <a:t>STALLED / ABANDONED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</a:rPr>
              <a:t>rise, then flat + regrowth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3566160"/>
            <a:ext cx="2395728" cy="658368"/>
          </a:xfrm>
          <a:prstGeom prst="roundRect">
            <a:avLst>
              <a:gd name="adj" fmla="val 10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</a:rPr>
              <a:t>NOT CONSTRUCTED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</a:rPr>
              <a:t>no build signal at 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407408"/>
            <a:ext cx="4892040" cy="150876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13232" y="4407408"/>
            <a:ext cx="45720" cy="1508760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69264" y="4590288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72A52"/>
                </a:solidFill>
              </a:rPr>
              <a:t>KEY INNOVATION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</a:rPr>
              <a:t>Published models stop at “these two images differ”.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2A52"/>
                </a:solidFill>
              </a:rPr>
              <a:t>GeoVerify asks whether the ground supports the completion claimed on that date, for that amount, and says how sure it is.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79592" y="4407408"/>
            <a:ext cx="4892040" cy="1508760"/>
          </a:xfrm>
          <a:prstGeom prst="roundRect">
            <a:avLst>
              <a:gd name="adj" fmla="val 7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144768" y="4590288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F6019"/>
                </a:solidFill>
              </a:rPr>
              <a:t>EXPECTED OUTCOME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A web platform that verifies a project end to end in under ten minutes, with imagery evidence and a downloadable audit report.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Advisory only: a ranked screening signal, never a fraud finding.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" y="1115568"/>
            <a:ext cx="475488" cy="47548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097280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72A52"/>
                </a:solidFill>
              </a:rPr>
              <a:t>Ingest project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371600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identifier, coordinates or route, sanctioned cost, scope, declared 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9888" y="1719072"/>
            <a:ext cx="9381744" cy="10972"/>
          </a:xfrm>
          <a:prstGeom prst="rect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13232" y="1883664"/>
            <a:ext cx="475488" cy="47548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1865376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72A52"/>
                </a:solidFill>
              </a:rPr>
              <a:t>Automate the imagery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139696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Sentinel-2 and Landsat retrieval, cloud masking, co-registration, normalisation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89888" y="2487168"/>
            <a:ext cx="9381744" cy="10972"/>
          </a:xfrm>
          <a:prstGeom prst="rect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13232" y="2651760"/>
            <a:ext cx="475488" cy="47548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2633472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72A52"/>
                </a:solidFill>
              </a:rPr>
              <a:t>Detect 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907791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train and compare a Siamese FCN against a bitemporal transformer at 10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89888" y="3255264"/>
            <a:ext cx="9381744" cy="10972"/>
          </a:xfrm>
          <a:prstGeom prst="rect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13232" y="3419856"/>
            <a:ext cx="475488" cy="47548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401568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72A52"/>
                </a:solidFill>
              </a:rPr>
              <a:t>Quantify and 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675887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road length and corridor width, built-up area, then completed / stalled / absent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89888" y="4023359"/>
            <a:ext cx="9381744" cy="10972"/>
          </a:xfrm>
          <a:prstGeom prst="rect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13232" y="4187952"/>
            <a:ext cx="475488" cy="47548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169664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72A52"/>
                </a:solidFill>
              </a:rPr>
              <a:t>Score and present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443984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discrepancy engine, dashboard, visual evidence, downloadable audit 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89888" y="4791456"/>
            <a:ext cx="9381744" cy="10972"/>
          </a:xfrm>
          <a:prstGeom prst="rect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2" y="501091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12-WEEK 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266944"/>
            <a:ext cx="1783080" cy="658368"/>
          </a:xfrm>
          <a:prstGeom prst="roundRect">
            <a:avLst>
              <a:gd name="adj" fmla="val 10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EF6019"/>
                </a:solidFill>
              </a:rPr>
              <a:t>W1-2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</a:rPr>
              <a:t>literature, schema, sites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9463" y="5266944"/>
            <a:ext cx="1874519" cy="658368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EF6019"/>
                </a:solidFill>
              </a:rPr>
              <a:t>W3-4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3F50"/>
                </a:solidFill>
              </a:rPr>
              <a:t>architecture and design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17136" y="5266944"/>
            <a:ext cx="3200400" cy="658368"/>
          </a:xfrm>
          <a:prstGeom prst="roundRect">
            <a:avLst>
              <a:gd name="adj" fmla="val 10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EF6019"/>
                </a:solidFill>
              </a:rPr>
              <a:t>W5-9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</a:rPr>
              <a:t>build models and 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90688" y="5266944"/>
            <a:ext cx="1920240" cy="658368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EF6019"/>
                </a:solidFill>
              </a:rPr>
              <a:t>W10-11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333F50"/>
                </a:solidFill>
              </a:rPr>
              <a:t>benchmark and validate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5266944"/>
            <a:ext cx="1133856" cy="658368"/>
          </a:xfrm>
          <a:prstGeom prst="roundRect">
            <a:avLst>
              <a:gd name="adj" fmla="val 10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EF6019"/>
                </a:solidFill>
              </a:rPr>
              <a:t>W12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</a:rPr>
              <a:t>report and demo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6016752"/>
            <a:ext cx="10058400" cy="420624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072A52"/>
                </a:solidFill>
              </a:rPr>
              <a:t>MEASURABLE TARGETS    verdict accuracy ≥ 75% on 40-60 sites    road length error ≤ 20%    under 10 minutes per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24828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52" y="173736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</a:rPr>
              <a:t>SYSTEM ARCHITECTURE /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8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47688"/>
            <a:ext cx="7955279" cy="146304"/>
          </a:xfrm>
          <a:prstGeom prst="rect">
            <a:avLst/>
          </a:prstGeom>
          <a:solidFill>
            <a:srgbClr val="07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9875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PIPELINE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" y="1261872"/>
            <a:ext cx="2395728" cy="868680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PROJECT RECORD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</a:rPr>
              <a:t>coordinates · cost · dates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140964" y="1600200"/>
            <a:ext cx="137160" cy="192024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310128" y="1261872"/>
            <a:ext cx="2395728" cy="868680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IMAGERY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</a:rPr>
              <a:t>Sentinel-2 / Landsat via GEE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737860" y="1600200"/>
            <a:ext cx="137160" cy="192024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5907024" y="1261872"/>
            <a:ext cx="2395728" cy="868680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PREPROCESSING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</a:rPr>
              <a:t>cloud mask · co-register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334756" y="1600200"/>
            <a:ext cx="137160" cy="192024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8503920" y="1261872"/>
            <a:ext cx="2395728" cy="868680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</a:rPr>
              <a:t>CHANGE DETECTION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</a:rPr>
              <a:t>Siamese FCN · BIT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9610344" y="2194560"/>
            <a:ext cx="182880" cy="237744"/>
          </a:xfrm>
          <a:prstGeom prst="downArrow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713232" y="2542032"/>
            <a:ext cx="2395728" cy="8686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72A52"/>
                </a:solidFill>
              </a:rPr>
              <a:t>QUANTIFICATION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072A52"/>
                </a:solidFill>
              </a:rPr>
              <a:t>km of road · m² built-up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140964" y="2880360"/>
            <a:ext cx="137160" cy="192024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3310128" y="2542032"/>
            <a:ext cx="2395728" cy="8686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72A52"/>
                </a:solidFill>
              </a:rPr>
              <a:t>PROGRESS CURVE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072A52"/>
                </a:solidFill>
              </a:rPr>
              <a:t>measured value per epoch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737860" y="2880360"/>
            <a:ext cx="137160" cy="192024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5907024" y="2542032"/>
            <a:ext cx="2395728" cy="8686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72A52"/>
                </a:solidFill>
              </a:rPr>
              <a:t>RECONCILIATION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072A52"/>
                </a:solidFill>
              </a:rPr>
              <a:t>observed vs declared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334756" y="2880360"/>
            <a:ext cx="137160" cy="192024"/>
          </a:xfrm>
          <a:prstGeom prst="rightArrow">
            <a:avLst/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8503920" y="2542032"/>
            <a:ext cx="2395728" cy="8686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72A52"/>
                </a:solidFill>
              </a:rPr>
              <a:t>SCORE &amp; REPORT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850" b="0">
                <a:solidFill>
                  <a:srgbClr val="072A52"/>
                </a:solidFill>
              </a:rPr>
              <a:t>verdict · confidence · PDF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37307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THE THREE IMAGERY WINDOWS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3232" y="4023360"/>
            <a:ext cx="3017520" cy="822960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</a:rPr>
              <a:t>BEFORE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</a:rPr>
              <a:t>6 months before sanction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730752" y="4023360"/>
            <a:ext cx="4069080" cy="822960"/>
          </a:xfrm>
          <a:prstGeom prst="roundRect">
            <a:avLst>
              <a:gd name="adj" fmla="val 8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</a:rPr>
              <a:t>DURING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</a:rPr>
              <a:t>start to claimed completion, about 6 epochs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99832" y="4023360"/>
            <a:ext cx="2990088" cy="822960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</a:rPr>
              <a:t>AFTER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</a:rPr>
              <a:t>6 months after completion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4956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</a:rPr>
              <a:t>Several scenes per window, combined into a median composite, so one cloudy day cannot decide a verdict.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3232" y="5358384"/>
            <a:ext cx="4892040" cy="960120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13232" y="5358384"/>
            <a:ext cx="45720" cy="960120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50976" y="5522976"/>
            <a:ext cx="447141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72A52"/>
                </a:solidFill>
              </a:rPr>
              <a:t>DECIDING THE STATE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</a:rPr>
              <a:t>Abandonment reads as an early rise, a long flat stretch, then vegetation returning over bare soil.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879592" y="5358384"/>
            <a:ext cx="4892040" cy="96012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5879592" y="5358384"/>
            <a:ext cx="45720" cy="960120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117336" y="5522976"/>
            <a:ext cx="447141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72A52"/>
                </a:solidFill>
              </a:rPr>
              <a:t>CONFIDENCE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</a:rPr>
              <a:t>Built from cloud cover, usable scene count and whether both models agree. Low confidence mutes the verdict.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3738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93268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TECHNOLOGY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188720"/>
            <a:ext cx="10058400" cy="694944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9264" y="1426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F6019"/>
                </a:solidFill>
              </a:rPr>
              <a:t>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371600"/>
            <a:ext cx="1086307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React +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76395" y="1371600"/>
            <a:ext cx="725119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Leaflet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1242" y="1371600"/>
            <a:ext cx="797356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Recharts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8327" y="1371600"/>
            <a:ext cx="1158544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swipe compare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1920240"/>
            <a:ext cx="10058400" cy="694944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9264" y="2157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72A52"/>
                </a:solidFill>
              </a:rPr>
              <a:t>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103120"/>
            <a:ext cx="725119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5207" y="2103120"/>
            <a:ext cx="1230782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Celery + Redis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5717" y="2103120"/>
            <a:ext cx="1086307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REST job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1752" y="2103120"/>
            <a:ext cx="941832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PDF 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651760"/>
            <a:ext cx="10058400" cy="694944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9264" y="28895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F6019"/>
                </a:solidFill>
              </a:rPr>
              <a:t>INTELLIGENCE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2834640"/>
            <a:ext cx="725119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PyTorch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15207" y="2834640"/>
            <a:ext cx="797356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TorchGeo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22292" y="2834640"/>
            <a:ext cx="1086307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FC-Siam-diff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8327" y="2834640"/>
            <a:ext cx="1303020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BIT transformer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31075" y="2834640"/>
            <a:ext cx="652881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OpenCV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383280"/>
            <a:ext cx="10058400" cy="694944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36210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72A52"/>
                </a:solidFill>
              </a:rPr>
              <a:t>GEOSPATIAL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3566160"/>
            <a:ext cx="1375257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Earth Engine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5345" y="3566160"/>
            <a:ext cx="797356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Rasterio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72430" y="3566160"/>
            <a:ext cx="508406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GDAL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0564" y="3566160"/>
            <a:ext cx="869594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GeoPandas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69887" y="3566160"/>
            <a:ext cx="508406" cy="338328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</a:rPr>
              <a:t>QGIS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114800"/>
            <a:ext cx="10058400" cy="694944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69264" y="43525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F6019"/>
                </a:solidFill>
              </a:rPr>
              <a:t>DATA &amp; INFRA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4297680"/>
            <a:ext cx="1230782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Sentinel-2 L2A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20870" y="4297680"/>
            <a:ext cx="1014069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Landsat 8/9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44668" y="4297680"/>
            <a:ext cx="1736445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LEVIR-CD · WHU · OSCD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90841" y="4297680"/>
            <a:ext cx="1664208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PostgreSQL + PostGIS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4777" y="4297680"/>
            <a:ext cx="652881" cy="3383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72A52"/>
                </a:solidFill>
              </a:rPr>
              <a:t>Docker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" y="4974336"/>
            <a:ext cx="4892040" cy="1335024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13232" y="4974336"/>
            <a:ext cx="45720" cy="1335024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50976" y="5138928"/>
            <a:ext cx="447141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72A52"/>
                </a:solidFill>
              </a:rPr>
              <a:t>ALGORITHM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F50"/>
                </a:solidFill>
              </a:rPr>
              <a:t>FC-Siam-diff as the baseline, BIT transformer as the main model, both fine-tuned on OSCD at 10 m.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F50"/>
                </a:solidFill>
              </a:rPr>
              <a:t>Thresholds calibrated on a validation split, never hard-coded. A naive NDVI/NDBI difference is reported as the floor.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79592" y="4974336"/>
            <a:ext cx="4892040" cy="133502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79592" y="4974336"/>
            <a:ext cx="45720" cy="1335024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117336" y="5138928"/>
            <a:ext cx="447141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72A52"/>
                </a:solidFill>
              </a:rPr>
              <a:t>PROTOTYPE PLAN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F50"/>
                </a:solidFill>
              </a:rPr>
              <a:t>Weeks 5-9 build the Earth Engine pipeline, the two models and the dashboard in parallel.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F50"/>
                </a:solidFill>
              </a:rPr>
              <a:t>Frontend develops against mocked verdict JSON from week 6, so it never waits on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80772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RESULTS / 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93268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F50"/>
                </a:solidFill>
              </a:rPr>
              <a:t>Each verdict state has its own curve shape. Separating those shapes is the whole job.</a:t>
            </a:r>
          </a:p>
        </p:txBody>
      </p:sp>
      <p:pic>
        <p:nvPicPr>
          <p:cNvPr id="11" name="Picture 10" descr="chart_sign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61872"/>
            <a:ext cx="10058400" cy="1974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34015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WHAT THE PROTOTYPE WILL SHOW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657600"/>
            <a:ext cx="4892040" cy="1078992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13232" y="3657600"/>
            <a:ext cx="45720" cy="1078992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822191"/>
            <a:ext cx="447141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72A52"/>
                </a:solidFill>
              </a:rPr>
              <a:t>DASHBOARD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</a:rPr>
              <a:t>Map of projects ranked by discrepancy score, Before / During / After tiles with a swipe slider, change overlay, progress curve.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9592" y="3657600"/>
            <a:ext cx="4892040" cy="1078992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79592" y="3657600"/>
            <a:ext cx="45720" cy="1078992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17336" y="3822191"/>
            <a:ext cx="447141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72A52"/>
                </a:solidFill>
              </a:rPr>
              <a:t>AUDIT REPORT (PDF)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</a:rPr>
              <a:t>Verdict, score and confidence, imagery evidence with scene IDs and dates, model versions, advisory disclaimer.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88289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TARGETS WE WILL BE JUDGED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138928"/>
            <a:ext cx="2432304" cy="987552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13232" y="5138928"/>
            <a:ext cx="2432304" cy="45720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72A52"/>
                </a:solidFill>
              </a:rPr>
              <a:t>F1 ≥ 0.55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4"/>
                </a:solidFill>
              </a:rPr>
              <a:t>change detection, OSCD 10 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5138928"/>
            <a:ext cx="2432304" cy="987552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310128" y="5138928"/>
            <a:ext cx="2432304" cy="45720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11296" y="5303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72A52"/>
                </a:solidFill>
              </a:rPr>
              <a:t>≤ 20%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4"/>
                </a:solidFill>
              </a:rPr>
              <a:t>road length error, APLS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07024" y="5138928"/>
            <a:ext cx="2432304" cy="987552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07024" y="5138928"/>
            <a:ext cx="2432304" cy="45720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08192" y="5303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72A52"/>
                </a:solidFill>
              </a:rPr>
              <a:t>≥ 75%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4"/>
                </a:solidFill>
              </a:rPr>
              <a:t>verdict accuracy, 40-60 sites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138928"/>
            <a:ext cx="2432304" cy="987552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503920" y="5138928"/>
            <a:ext cx="2432304" cy="45720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05088" y="5303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72A52"/>
                </a:solidFill>
              </a:rPr>
              <a:t>&lt; 10 min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4"/>
                </a:solidFill>
              </a:rPr>
              <a:t>record in, report 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2544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</a:rPr>
              <a:t>Ground truth: 40-60 Indian sites hand-labelled from historical imagery across all four states, with finished works and empty plots as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64722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INNOVATION, IMPACT, DELIVERABLES &amp; FUTURE SCOPE</a:t>
            </a:r>
            <a:r>
              <a:rPr lang="en-IN" sz="3200" b="1" dirty="0">
                <a:solidFill>
                  <a:srgbClr val="072A52"/>
                </a:solidFill>
                <a:latin typeface="+mj-lt"/>
              </a:rPr>
              <a:t/>
            </a:r>
            <a:r>
              <a:rPr sz="3200" b="1" dirty="0">
                <a:solidFill>
                  <a:srgbClr val="072A52"/>
                </a:solidFill>
                <a:latin typeface="+mj-lt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" y="1042415"/>
            <a:ext cx="3246120" cy="2395728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13232" y="1042415"/>
            <a:ext cx="45720" cy="2395728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1243584"/>
            <a:ext cx="282549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72A52"/>
                </a:solidFill>
              </a:rPr>
              <a:t>INNOVATION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Closes the loop between change detection and the declared record.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Progress reported in metres and square metres, not pixels.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Abandonment read from curve shape plus vegetation regrowth.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Confidence modelled from cloud cover, scene count, model agreement.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3944" y="1042415"/>
            <a:ext cx="3246120" cy="239572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123944" y="1042415"/>
            <a:ext cx="45720" cy="2395728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61688" y="1243584"/>
            <a:ext cx="282549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72A52"/>
                </a:solidFill>
              </a:rPr>
              <a:t>IMPACT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Wide-area screening at near-zero imagery cost.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A ranked shortlist replaces a random inspection sample.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Evidence held by ESA and USGS, not by the audited agency.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Method carries over to disaster relief and CSR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34656" y="1042415"/>
            <a:ext cx="3246120" cy="239572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534656" y="1042415"/>
            <a:ext cx="45720" cy="2395728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0" y="1243584"/>
            <a:ext cx="282549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72A52"/>
                </a:solidFill>
              </a:rPr>
              <a:t>FUTURE SCOPE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Sentinel-1 radar fallback through the monsoon months.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Super-resolution to sharpen 10 m imagery.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Bridge and culvert specific detectors.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F50"/>
                </a:solidFill>
              </a:rPr>
              <a:t>·  Direct integration with tender and scheme portals.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5760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DELIVERABLES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13632"/>
            <a:ext cx="1755648" cy="438912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</a:rPr>
              <a:t>Working web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96896" y="3913632"/>
            <a:ext cx="2044598" cy="438912"/>
          </a:xfrm>
          <a:prstGeom prst="roundRect">
            <a:avLst>
              <a:gd name="adj" fmla="val 35000"/>
            </a:avLst>
          </a:prstGeom>
          <a:solidFill>
            <a:srgbClr val="1C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</a:rPr>
              <a:t>Trained detection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9510" y="3913632"/>
            <a:ext cx="1900123" cy="438912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</a:rPr>
              <a:t>Quantification modules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97649" y="3913632"/>
            <a:ext cx="2694736" cy="438912"/>
          </a:xfrm>
          <a:prstGeom prst="roundRect">
            <a:avLst>
              <a:gd name="adj" fmla="val 35000"/>
            </a:avLst>
          </a:prstGeom>
          <a:solidFill>
            <a:srgbClr val="1C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</a:rPr>
              <a:t>Scoring and reconciliation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443984"/>
            <a:ext cx="2478024" cy="438912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</a:rPr>
              <a:t>Labelled Indian evaluation 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9272" y="4443984"/>
            <a:ext cx="1538935" cy="438912"/>
          </a:xfrm>
          <a:prstGeom prst="roundRect">
            <a:avLst>
              <a:gd name="adj" fmla="val 35000"/>
            </a:avLst>
          </a:prstGeom>
          <a:solidFill>
            <a:srgbClr val="1C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</a:rPr>
              <a:t>Benchmark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6223" y="4443984"/>
            <a:ext cx="1466697" cy="438912"/>
          </a:xfrm>
          <a:prstGeom prst="roundRect">
            <a:avLst>
              <a:gd name="adj" fmla="val 3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</a:rPr>
              <a:t>PDF audit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0936" y="4443984"/>
            <a:ext cx="2405786" cy="438912"/>
          </a:xfrm>
          <a:prstGeom prst="roundRect">
            <a:avLst>
              <a:gd name="adj" fmla="val 35000"/>
            </a:avLst>
          </a:prstGeom>
          <a:solidFill>
            <a:srgbClr val="1C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</a:rPr>
              <a:t>Documentation and ethics note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047488"/>
            <a:ext cx="10058400" cy="1261872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13232" y="5047488"/>
            <a:ext cx="45720" cy="1261872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9264" y="5230368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72A52"/>
                </a:solidFill>
              </a:rPr>
              <a:t>LIMITS WE STATE UP FRONT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</a:rPr>
              <a:t>At 10 m a two-lane road is roughly one pixel wide, so the system is scoped to works above 500 m of road or 500 m² of built-up area, and to outdoor, optically visible construction.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F50"/>
                </a:solidFill>
              </a:rPr>
              <a:t>It cannot separate fraud from a legitimate delay, a court stay or a re-tendered scope change. No official or contractor is named, and every verdict needs human confirmation.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77" y="163509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CONCLUSION &amp;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146304"/>
            <a:ext cx="868680" cy="8769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" y="1024128"/>
            <a:ext cx="10058400" cy="1481328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1225296"/>
            <a:ext cx="9509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</a:rPr>
              <a:t>Free satellite imagery already holds an independent record of every construction site in India.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</a:rPr>
              <a:t>GeoVerify reads that record against what was claimed. It ingests a declared project, measures what physically changed at those coordinates across Before, During and After windows, and reports the gap with an explicit confidence value.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The result is a screening layer that tells an auditor where to spend a site visit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8833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019"/>
                </a:solidFill>
              </a:rPr>
              <a:t>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962656"/>
            <a:ext cx="4956048" cy="60350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7824" y="3054096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F50"/>
                </a:solidFill>
              </a:rPr>
              <a:t>[1]  Daudt, Le Saux, Boulch. Fully convolutional Siamese networks for change detection. IEEE ICIP, 2018.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33872" y="2962656"/>
            <a:ext cx="4956048" cy="60350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98464" y="3054096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F50"/>
                </a:solidFill>
              </a:rPr>
              <a:t>[2]  Chen, Shi. Spatial-temporal attention change detection and the LEVIR-CD dataset. Remote Sensing, 2020.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639312"/>
            <a:ext cx="4956048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7824" y="3730752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F50"/>
                </a:solidFill>
              </a:rPr>
              <a:t>[3]  Chen, Qi, Shi. Remote sensing image change detection with transformers. IEEE TGRS, 2022.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33872" y="3639312"/>
            <a:ext cx="4956048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98464" y="3730752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F50"/>
                </a:solidFill>
              </a:rPr>
              <a:t>[4]  Bastani et al. RoadTracer: automatic extraction of road networks. IEEE CVPR, 2018.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315968"/>
            <a:ext cx="4956048" cy="60350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7824" y="4407408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F50"/>
                </a:solidFill>
              </a:rPr>
              <a:t>[5]  Mnih, Hinton. Learning to detect roads in high-resolution aerial images. ECCV, 2010.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33872" y="4315968"/>
            <a:ext cx="4956048" cy="60350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98464" y="4407408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F50"/>
                </a:solidFill>
              </a:rPr>
              <a:t>[6]  Gorelick et al. Google Earth Engine: planetary-scale geospatial analysis. RSE, 2017.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992624"/>
            <a:ext cx="4956048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7824" y="5084064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F50"/>
                </a:solidFill>
              </a:rPr>
              <a:t>[7]  Drusch et al. Sentinel-2: ESA’s optical high-resolution mission. RSE, 2012.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3872" y="4992624"/>
            <a:ext cx="4956048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98464" y="5084064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F50"/>
                </a:solidFill>
              </a:rPr>
              <a:t>[8]  Ji, Wei, Lu. Fully convolutional networks for building extraction (WHU dataset). IEEE TGRS, 2019.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833872"/>
            <a:ext cx="10058400" cy="475488"/>
          </a:xfrm>
          <a:prstGeom prst="roundRect">
            <a:avLst>
              <a:gd name="adj" fmla="val 7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072A52"/>
                </a:solidFill>
              </a:rPr>
              <a:t>Thank you.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solidFill>
            <a:srgbClr val="FFFFFF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190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Sharvari Deshmukh</dc:creator>
  <cp:keywords/>
  <dc:description>generated using python-pptx</dc:description>
  <cp:lastModifiedBy>Sharvari Deshmukh</cp:lastModifiedBy>
  <cp:revision>2</cp:revision>
  <dcterms:created xsi:type="dcterms:W3CDTF">2013-01-27T09:14:16Z</dcterms:created>
  <dcterms:modified xsi:type="dcterms:W3CDTF">2026-09-02T10:44:04Z</dcterms:modified>
  <cp:category/>
</cp:coreProperties>
</file>